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7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ADA611-FBEC-42F4-8E3F-D225ED0484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A282A1-EA65-4D62-9BFE-D82B581F0B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2D26FE9-C57C-431F-857F-B4C90D8DCE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5E1912F-4E1E-41C4-95F9-991B0F3BBA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A007D0F-C347-41A5-AF15-228305CD5A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5D77E33-BFBC-4DD1-85F5-4C38357C0D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2DCE77C-AE45-4728-B52C-7E34FAEF1C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BE445B8-566D-4A14-8544-7631784520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8B57765-C22E-44FE-8BC1-9A2B10790D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BFC376E-5A89-4312-AD5A-99B802DCE1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08109A-F394-49EE-890E-3A01EA7C0D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432000" indent="-32400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930966-0AD0-477E-A7E4-A487129A1F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432000" indent="-32400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0018CF-B041-48AD-9840-E920250135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432000" indent="-32400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C61FAC-0F94-46A7-A3B9-C852DBA248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432000"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47D9A6-F640-49B1-98B1-0B18E04732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432000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4CF743-4290-4F70-8750-7AA7900D5F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432000"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999510-4AC2-4083-AD37-DD91A5CD79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73CA96-95EE-4B4E-86D3-E87B0C2E1C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DA51BF-E834-4259-B823-532F5DCC37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432000" indent="-32400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5DD788-E277-4E41-86DD-EE0B5EB93F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FC9DAF-B4C3-4B6F-953A-E0FCD68799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hyperlink" Target="https://cseweb.ucsd.edu/~viscomp/classes/cse274/wi26/papers/3d_gaussian_splatting_low.pdf" TargetMode="External"/><Relationship Id="rId2" Type="http://schemas.openxmlformats.org/officeDocument/2006/relationships/hyperlink" Target="https://arxiv.org/pdf/2003.08934" TargetMode="External"/><Relationship Id="rId3" Type="http://schemas.openxmlformats.org/officeDocument/2006/relationships/hyperlink" Target="https://www.cs.umd.edu/~zwicker/publications/EWAVolumeSplatting-VIS01.pdf" TargetMode="External"/><Relationship Id="rId4" Type="http://schemas.openxmlformats.org/officeDocument/2006/relationships/hyperlink" Target="https://arxiv.org/pdf/2112.05131" TargetMode="External"/><Relationship Id="rId5" Type="http://schemas.openxmlformats.org/officeDocument/2006/relationships/hyperlink" Target="https://dl.acm.org/doi/epdf/10.1145/1141911.1141964" TargetMode="External"/><Relationship Id="rId6" Type="http://schemas.openxmlformats.org/officeDocument/2006/relationships/hyperlink" Target="https://blog.csdn.net/qq_28087491/article/details/135629371" TargetMode="External"/><Relationship Id="rId7" Type="http://schemas.openxmlformats.org/officeDocument/2006/relationships/hyperlink" Target="https://velog.io/@cjkangme/3D-Gaussian-Splattingfor-Real-Time-Radiance-Field-Rendering" TargetMode="External"/><Relationship Id="rId8" Type="http://schemas.openxmlformats.org/officeDocument/2006/relationships/hyperlink" Target="https://medium.com/@AriaLeeNotAriel/numbynum-3d-gaussian-splatting-for-real-time-radiance-field-rendering-kerbl-et-al-60c0b25e5544" TargetMode="External"/><Relationship Id="rId9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594360" y="914400"/>
            <a:ext cx="56689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3D Gaussian Splatting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621720" y="2331720"/>
            <a:ext cx="5303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for Real-Time Radiance Field Rendering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4"/>
          <p:cNvSpPr/>
          <p:nvPr/>
        </p:nvSpPr>
        <p:spPr>
          <a:xfrm>
            <a:off x="640080" y="3657600"/>
            <a:ext cx="4983120" cy="100548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868680" y="3858840"/>
            <a:ext cx="4525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Focus: method, training, and real-time rendering.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6"/>
          <p:cNvSpPr/>
          <p:nvPr/>
        </p:nvSpPr>
        <p:spPr>
          <a:xfrm>
            <a:off x="6172200" y="868680"/>
            <a:ext cx="5715000" cy="4480200"/>
          </a:xfrm>
          <a:prstGeom prst="rect">
            <a:avLst/>
          </a:prstGeom>
          <a:noFill/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5" name="Picture 7" descr="1000000100000258000001CBEEFA67AF.png"/>
          <p:cNvPicPr/>
          <p:nvPr/>
        </p:nvPicPr>
        <p:blipFill>
          <a:blip r:embed="rId1"/>
          <a:stretch/>
        </p:blipFill>
        <p:spPr>
          <a:xfrm>
            <a:off x="6401160" y="1098000"/>
            <a:ext cx="5257440" cy="402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"/>
          <p:cNvSpPr txBox="1"/>
          <p:nvPr/>
        </p:nvSpPr>
        <p:spPr>
          <a:xfrm>
            <a:off x="10058400" y="6400800"/>
            <a:ext cx="21247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 REDACTED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ounded Rectangle 2"/>
          <p:cNvSpPr/>
          <p:nvPr/>
        </p:nvSpPr>
        <p:spPr>
          <a:xfrm>
            <a:off x="731520" y="1097280"/>
            <a:ext cx="10789560" cy="201132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High quality used to mean slow rendering.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7B72"/>
                </a:solidFill>
                <a:effectLst/>
                <a:uFillTx/>
                <a:latin typeface="Arial"/>
              </a:rPr>
              <a:t>3D Gaussian Splatting tries to keep both.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1821960" y="3657600"/>
            <a:ext cx="85176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The whole method is built around one idea: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keep the scene explicit enough to render fast, but flexible enough to stay accurate.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502920" y="201240"/>
            <a:ext cx="210168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Why it matters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5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4572000" y="4572360"/>
            <a:ext cx="18072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pPr algn="ctr"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457200" y="4800600"/>
            <a:ext cx="8562600" cy="11728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Real surfaces are rarely round.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Long, thin splats fit edges, poles, rails, and flat areas much better.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few well-shaped Gaussians can cover more of the scene without making it blurry.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502920" y="201240"/>
            <a:ext cx="16873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Roadmap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ounded Rectangle 5"/>
          <p:cNvSpPr/>
          <p:nvPr/>
        </p:nvSpPr>
        <p:spPr>
          <a:xfrm>
            <a:off x="777240" y="1280160"/>
            <a:ext cx="10515240" cy="402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ounded Rectangle 6"/>
          <p:cNvSpPr/>
          <p:nvPr/>
        </p:nvSpPr>
        <p:spPr>
          <a:xfrm>
            <a:off x="1143000" y="1828800"/>
            <a:ext cx="3017160" cy="237708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1. Background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NeRF, radiance fields, and the main quality vs speed trade-off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7"/>
          <p:cNvSpPr/>
          <p:nvPr/>
        </p:nvSpPr>
        <p:spPr>
          <a:xfrm>
            <a:off x="4544640" y="1828800"/>
            <a:ext cx="3017160" cy="237708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2. Representation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What a 3D Gaussian stores, how it is optimized, and why anisotropy matters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8"/>
          <p:cNvSpPr/>
          <p:nvPr/>
        </p:nvSpPr>
        <p:spPr>
          <a:xfrm>
            <a:off x="7946280" y="1828800"/>
            <a:ext cx="3017160" cy="237708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3. Rendering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Density control, tile-based rasterization, and the final results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502920" y="201240"/>
            <a:ext cx="37270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Why this topic matters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5"/>
          <p:cNvSpPr/>
          <p:nvPr/>
        </p:nvSpPr>
        <p:spPr>
          <a:xfrm>
            <a:off x="868680" y="1188720"/>
            <a:ext cx="5668920" cy="18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Novel view synthesis is useful only if the viewer can move freely.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Image quality matters, but so does latency.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A practical system needs to work at real-time frame rates, not just offline.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6"/>
          <p:cNvSpPr/>
          <p:nvPr/>
        </p:nvSpPr>
        <p:spPr>
          <a:xfrm>
            <a:off x="6858000" y="1143000"/>
            <a:ext cx="4571640" cy="4388760"/>
          </a:xfrm>
          <a:prstGeom prst="rect">
            <a:avLst/>
          </a:prstGeom>
          <a:noFill/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6" name="Picture 7" descr="1000000000000158000001EA27D1F1B0.jpg"/>
          <p:cNvPicPr/>
          <p:nvPr/>
        </p:nvPicPr>
        <p:blipFill>
          <a:blip r:embed="rId1"/>
          <a:stretch/>
        </p:blipFill>
        <p:spPr>
          <a:xfrm>
            <a:off x="7603200" y="1143000"/>
            <a:ext cx="308088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Box 8"/>
          <p:cNvSpPr/>
          <p:nvPr/>
        </p:nvSpPr>
        <p:spPr>
          <a:xfrm>
            <a:off x="8452080" y="5486400"/>
            <a:ext cx="14749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Typical captured scene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502920" y="201240"/>
            <a:ext cx="32857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NeRF in one minute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5"/>
          <p:cNvSpPr/>
          <p:nvPr/>
        </p:nvSpPr>
        <p:spPr>
          <a:xfrm>
            <a:off x="6858000" y="1143000"/>
            <a:ext cx="4571640" cy="4388760"/>
          </a:xfrm>
          <a:prstGeom prst="rect">
            <a:avLst/>
          </a:prstGeom>
          <a:noFill/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2" name="Picture 6" descr="1000000000000158000001EA9F005D31.jpg"/>
          <p:cNvPicPr/>
          <p:nvPr/>
        </p:nvPicPr>
        <p:blipFill>
          <a:blip r:embed="rId1"/>
          <a:stretch/>
        </p:blipFill>
        <p:spPr>
          <a:xfrm>
            <a:off x="7603200" y="1143000"/>
            <a:ext cx="308088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Box 7"/>
          <p:cNvSpPr/>
          <p:nvPr/>
        </p:nvSpPr>
        <p:spPr>
          <a:xfrm>
            <a:off x="868680" y="1234440"/>
            <a:ext cx="5303160" cy="18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9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A scene is represented as a continuous field.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9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A neural network predicts color and density for each point and view direction.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9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Rendering samples many points along each camera ray.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8"/>
          <p:cNvSpPr/>
          <p:nvPr/>
        </p:nvSpPr>
        <p:spPr>
          <a:xfrm>
            <a:off x="914400" y="4526280"/>
            <a:ext cx="392148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This is flexible, but expensive to evaluate.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502920" y="201240"/>
            <a:ext cx="41130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Where NeRF slows down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5"/>
          <p:cNvSpPr/>
          <p:nvPr/>
        </p:nvSpPr>
        <p:spPr>
          <a:xfrm>
            <a:off x="868680" y="1234440"/>
            <a:ext cx="5851800" cy="30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Every pixel requires many samples along the ray, so most of the work is spent before a visible color is even produced.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Empty space still consumes computation, which is wasted effort in large scenes.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Fast variants often trade away some quality to gain speed.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That trade-off is exactly what Gaussian Splatting tries to improve.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6"/>
          <p:cNvSpPr/>
          <p:nvPr/>
        </p:nvSpPr>
        <p:spPr>
          <a:xfrm>
            <a:off x="7040880" y="1325880"/>
            <a:ext cx="4388760" cy="310860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7"/>
          <p:cNvSpPr/>
          <p:nvPr/>
        </p:nvSpPr>
        <p:spPr>
          <a:xfrm>
            <a:off x="7406640" y="1600200"/>
            <a:ext cx="16567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F7B72"/>
                </a:solidFill>
                <a:effectLst/>
                <a:uFillTx/>
                <a:latin typeface="Arial"/>
              </a:rPr>
              <a:t>Main weakness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9"/>
          <p:cNvSpPr/>
          <p:nvPr/>
        </p:nvSpPr>
        <p:spPr>
          <a:xfrm>
            <a:off x="8001000" y="3429000"/>
            <a:ext cx="2213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That is wasted 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7315200" y="2057400"/>
            <a:ext cx="388620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A lot of computation is spent in places that do not contribute much to the final image.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502920" y="201240"/>
            <a:ext cx="23126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The core idea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5"/>
          <p:cNvSpPr/>
          <p:nvPr/>
        </p:nvSpPr>
        <p:spPr>
          <a:xfrm>
            <a:off x="685800" y="1143000"/>
            <a:ext cx="5212080" cy="3108600"/>
          </a:xfrm>
          <a:prstGeom prst="rect">
            <a:avLst/>
          </a:prstGeom>
          <a:noFill/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7" name="Picture 6" descr="10000001000002F700000192AA8A0B46.png"/>
          <p:cNvPicPr/>
          <p:nvPr/>
        </p:nvPicPr>
        <p:blipFill>
          <a:blip r:embed="rId1"/>
          <a:stretch/>
        </p:blipFill>
        <p:spPr>
          <a:xfrm>
            <a:off x="869040" y="1414080"/>
            <a:ext cx="4845960" cy="256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Box 7"/>
          <p:cNvSpPr/>
          <p:nvPr/>
        </p:nvSpPr>
        <p:spPr>
          <a:xfrm>
            <a:off x="6172560" y="1383480"/>
            <a:ext cx="5486040" cy="18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9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Start from sparse Structure-from-Motion points.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9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Replace the implicit field with explicit 3D Gaussians.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9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Keep the model differentiable and easy to rasterize on the GPU.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8"/>
          <p:cNvSpPr/>
          <p:nvPr/>
        </p:nvSpPr>
        <p:spPr>
          <a:xfrm>
            <a:off x="2457000" y="4768920"/>
            <a:ext cx="72781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The representation stays continuous, but the rendering becomes much simpler.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502920" y="201240"/>
            <a:ext cx="43340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What one Gaussian stores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5"/>
          <p:cNvSpPr/>
          <p:nvPr/>
        </p:nvSpPr>
        <p:spPr>
          <a:xfrm>
            <a:off x="503280" y="1234440"/>
            <a:ext cx="5668920" cy="21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Position tells you where the primitive lives in 3D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Covariance controls its size, shape, and orientation.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Opacity decides how strongly it contributes after alpha blending.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Spherical harmonics store view-dependent color, so appearance can change with the camera angle.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6"/>
          <p:cNvSpPr/>
          <p:nvPr/>
        </p:nvSpPr>
        <p:spPr>
          <a:xfrm>
            <a:off x="6400800" y="1645920"/>
            <a:ext cx="1416960" cy="41112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position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7"/>
          <p:cNvSpPr/>
          <p:nvPr/>
        </p:nvSpPr>
        <p:spPr>
          <a:xfrm>
            <a:off x="8229600" y="2148840"/>
            <a:ext cx="1416960" cy="41112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covariance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8"/>
          <p:cNvSpPr/>
          <p:nvPr/>
        </p:nvSpPr>
        <p:spPr>
          <a:xfrm>
            <a:off x="10058400" y="2651760"/>
            <a:ext cx="1416960" cy="41112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opacity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9"/>
          <p:cNvSpPr/>
          <p:nvPr/>
        </p:nvSpPr>
        <p:spPr>
          <a:xfrm>
            <a:off x="4023720" y="4252320"/>
            <a:ext cx="374868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Spherical harmonics capture how the color changes when the camera moves.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502920" y="201240"/>
            <a:ext cx="50875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Why anisotropic shapes matter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5"/>
          <p:cNvSpPr/>
          <p:nvPr/>
        </p:nvSpPr>
        <p:spPr>
          <a:xfrm>
            <a:off x="6400800" y="1234440"/>
            <a:ext cx="5029200" cy="4114440"/>
          </a:xfrm>
          <a:prstGeom prst="rect">
            <a:avLst/>
          </a:prstGeom>
          <a:noFill/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2" name="Picture 6" descr="1000000100000258000001CBEEFA67AF.png"/>
          <p:cNvPicPr/>
          <p:nvPr/>
        </p:nvPicPr>
        <p:blipFill>
          <a:blip r:embed="rId1"/>
          <a:stretch/>
        </p:blipFill>
        <p:spPr>
          <a:xfrm>
            <a:off x="6537960" y="1473120"/>
            <a:ext cx="4754520" cy="363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Box 7"/>
          <p:cNvSpPr/>
          <p:nvPr/>
        </p:nvSpPr>
        <p:spPr>
          <a:xfrm>
            <a:off x="868680" y="1325880"/>
            <a:ext cx="5440320" cy="15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9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Real surfaces are rarely round.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9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Long, thin splats fit edges and flat areas better.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9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A few well-shaped Gaussians can cover more of the scene.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8"/>
          <p:cNvSpPr/>
          <p:nvPr/>
        </p:nvSpPr>
        <p:spPr>
          <a:xfrm>
            <a:off x="140760" y="3657600"/>
            <a:ext cx="62600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This is one reason the method stays compact without looking blurry.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502920" y="201240"/>
            <a:ext cx="45172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From 3D to the image plane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5"/>
          <p:cNvSpPr/>
          <p:nvPr/>
        </p:nvSpPr>
        <p:spPr>
          <a:xfrm>
            <a:off x="6400800" y="1097280"/>
            <a:ext cx="5029200" cy="4205880"/>
          </a:xfrm>
          <a:prstGeom prst="rect">
            <a:avLst/>
          </a:prstGeom>
          <a:noFill/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6" descr="10000001000002F700000192AA8A0B46.png"/>
          <p:cNvPicPr/>
          <p:nvPr/>
        </p:nvPicPr>
        <p:blipFill>
          <a:blip r:embed="rId1"/>
          <a:stretch/>
        </p:blipFill>
        <p:spPr>
          <a:xfrm>
            <a:off x="6492240" y="1929240"/>
            <a:ext cx="4800240" cy="254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Box 7"/>
          <p:cNvSpPr/>
          <p:nvPr/>
        </p:nvSpPr>
        <p:spPr>
          <a:xfrm>
            <a:off x="868680" y="1280160"/>
            <a:ext cx="5394600" cy="23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Each Gaussian is projected through the camera, so its footprint changes in image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The visible splats are blended front-to-back in depth order.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View direction still matters because the SH coefficients encode appearance changes across viewpoints.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502920" y="201240"/>
            <a:ext cx="32500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Pipeline at a glance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ounded Rectangle 5"/>
          <p:cNvSpPr/>
          <p:nvPr/>
        </p:nvSpPr>
        <p:spPr>
          <a:xfrm>
            <a:off x="960120" y="1965960"/>
            <a:ext cx="1828440" cy="91404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SfM points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6"/>
          <p:cNvSpPr/>
          <p:nvPr/>
        </p:nvSpPr>
        <p:spPr>
          <a:xfrm>
            <a:off x="3611880" y="1965960"/>
            <a:ext cx="1828440" cy="91404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Initial Gaussians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7"/>
          <p:cNvSpPr/>
          <p:nvPr/>
        </p:nvSpPr>
        <p:spPr>
          <a:xfrm>
            <a:off x="6263640" y="1965960"/>
            <a:ext cx="1828440" cy="91404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Render view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8"/>
          <p:cNvSpPr/>
          <p:nvPr/>
        </p:nvSpPr>
        <p:spPr>
          <a:xfrm>
            <a:off x="8915400" y="1965960"/>
            <a:ext cx="1828440" cy="91404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Update params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2"/>
          <p:cNvSpPr/>
          <p:nvPr/>
        </p:nvSpPr>
        <p:spPr>
          <a:xfrm>
            <a:off x="868680" y="3657600"/>
            <a:ext cx="557748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The loop is short and practical.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Each step keeps the scene representation explicit, which makes training and rendering easier to control.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ight Arrow 13"/>
          <p:cNvSpPr/>
          <p:nvPr/>
        </p:nvSpPr>
        <p:spPr>
          <a:xfrm>
            <a:off x="2971800" y="2286000"/>
            <a:ext cx="38376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ight Arrow 14"/>
          <p:cNvSpPr/>
          <p:nvPr/>
        </p:nvSpPr>
        <p:spPr>
          <a:xfrm>
            <a:off x="5715000" y="2259000"/>
            <a:ext cx="38376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ight Arrow 15"/>
          <p:cNvSpPr/>
          <p:nvPr/>
        </p:nvSpPr>
        <p:spPr>
          <a:xfrm>
            <a:off x="8303040" y="2286000"/>
            <a:ext cx="38376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16"/>
          <p:cNvSpPr/>
          <p:nvPr/>
        </p:nvSpPr>
        <p:spPr>
          <a:xfrm>
            <a:off x="9509760" y="3063240"/>
            <a:ext cx="9140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And repeat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2"/>
          <p:cNvSpPr/>
          <p:nvPr/>
        </p:nvSpPr>
        <p:spPr>
          <a:xfrm>
            <a:off x="502920" y="201240"/>
            <a:ext cx="44812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Why SfM is a practical start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5"/>
          <p:cNvSpPr/>
          <p:nvPr/>
        </p:nvSpPr>
        <p:spPr>
          <a:xfrm>
            <a:off x="686160" y="1628280"/>
            <a:ext cx="5486040" cy="20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The method begins with sparse points from calibrated images.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No manual mesh is required, and normals are not needed to get started.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That gives the optimizer a real geometric hint instead of a random volume.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6"/>
          <p:cNvSpPr/>
          <p:nvPr/>
        </p:nvSpPr>
        <p:spPr>
          <a:xfrm>
            <a:off x="6629400" y="1417320"/>
            <a:ext cx="4388760" cy="2559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7"/>
          <p:cNvSpPr/>
          <p:nvPr/>
        </p:nvSpPr>
        <p:spPr>
          <a:xfrm>
            <a:off x="6949440" y="1691640"/>
            <a:ext cx="208476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F7B72"/>
                </a:solidFill>
                <a:effectLst/>
                <a:uFillTx/>
                <a:latin typeface="Arial"/>
              </a:rPr>
              <a:t>Practical advantage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6858000" y="2286000"/>
            <a:ext cx="38862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The sparse cloud already gives a geometric hint, so the model can begin from real captured data instead of random volume.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502920" y="201240"/>
            <a:ext cx="50328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How the parameters are stored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5"/>
          <p:cNvSpPr/>
          <p:nvPr/>
        </p:nvSpPr>
        <p:spPr>
          <a:xfrm>
            <a:off x="868680" y="1325880"/>
            <a:ext cx="5486040" cy="23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Each Gaussian stores position, scale, rotation, opacity, and SH color coefficients.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Scale and rotation describe the covariance in a way that is easy to optimize and always valid after normalization.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The result is compact: each primitive stays explicit, but still flexible enough to adapt during training.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6"/>
          <p:cNvSpPr/>
          <p:nvPr/>
        </p:nvSpPr>
        <p:spPr>
          <a:xfrm>
            <a:off x="6584040" y="1417320"/>
            <a:ext cx="5074560" cy="274284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7"/>
          <p:cNvSpPr/>
          <p:nvPr/>
        </p:nvSpPr>
        <p:spPr>
          <a:xfrm>
            <a:off x="6812280" y="1691640"/>
            <a:ext cx="243288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F7B72"/>
                </a:solidFill>
                <a:effectLst/>
                <a:uFillTx/>
                <a:latin typeface="Arial"/>
              </a:rPr>
              <a:t>Compact parameter set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8"/>
          <p:cNvSpPr/>
          <p:nvPr/>
        </p:nvSpPr>
        <p:spPr>
          <a:xfrm>
            <a:off x="6812280" y="2148840"/>
            <a:ext cx="3110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μ, Σ, α, and color coefficients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6744600" y="2884320"/>
            <a:ext cx="4228200" cy="1001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The important part is that each Gaussian can change shape without becoming a neural network.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502920" y="201240"/>
            <a:ext cx="35974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The optimization loop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3"/>
          <p:cNvSpPr/>
          <p:nvPr/>
        </p:nvSpPr>
        <p:spPr>
          <a:xfrm>
            <a:off x="11298240" y="6355080"/>
            <a:ext cx="4971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ctr"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ounded Rectangle 5"/>
          <p:cNvSpPr/>
          <p:nvPr/>
        </p:nvSpPr>
        <p:spPr>
          <a:xfrm>
            <a:off x="2286360" y="1691640"/>
            <a:ext cx="1828440" cy="77688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Render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6"/>
          <p:cNvSpPr/>
          <p:nvPr/>
        </p:nvSpPr>
        <p:spPr>
          <a:xfrm>
            <a:off x="4800960" y="1143000"/>
            <a:ext cx="1828440" cy="77688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Compare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7"/>
          <p:cNvSpPr/>
          <p:nvPr/>
        </p:nvSpPr>
        <p:spPr>
          <a:xfrm>
            <a:off x="7315560" y="1829160"/>
            <a:ext cx="1828440" cy="77688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Backprop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8"/>
          <p:cNvSpPr/>
          <p:nvPr/>
        </p:nvSpPr>
        <p:spPr>
          <a:xfrm>
            <a:off x="4800960" y="2606040"/>
            <a:ext cx="1828440" cy="77688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Update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3"/>
          <p:cNvSpPr/>
          <p:nvPr/>
        </p:nvSpPr>
        <p:spPr>
          <a:xfrm>
            <a:off x="868680" y="3977640"/>
            <a:ext cx="1024092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Render a training image from the current Gaussian set.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Compare it with the target view using the loss function.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Backpropagate through the differentiable rasterizer.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Update the parameters and repeat until the scene stabilizes.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ight Arrow 14"/>
          <p:cNvSpPr/>
          <p:nvPr/>
        </p:nvSpPr>
        <p:spPr>
          <a:xfrm rot="20042400">
            <a:off x="4279680" y="1604520"/>
            <a:ext cx="48960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Right Arrow 15"/>
          <p:cNvSpPr/>
          <p:nvPr/>
        </p:nvSpPr>
        <p:spPr>
          <a:xfrm rot="1729800">
            <a:off x="6777360" y="1550880"/>
            <a:ext cx="53568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16"/>
          <p:cNvSpPr/>
          <p:nvPr/>
        </p:nvSpPr>
        <p:spPr>
          <a:xfrm>
            <a:off x="4984920" y="3490920"/>
            <a:ext cx="1644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And the cycle repeats...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ight Arrow 1"/>
          <p:cNvSpPr/>
          <p:nvPr/>
        </p:nvSpPr>
        <p:spPr>
          <a:xfrm rot="8918400">
            <a:off x="6752160" y="2687040"/>
            <a:ext cx="53568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ight Arrow 2"/>
          <p:cNvSpPr/>
          <p:nvPr/>
        </p:nvSpPr>
        <p:spPr>
          <a:xfrm rot="12630000">
            <a:off x="4236480" y="2471400"/>
            <a:ext cx="53568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502920" y="201240"/>
            <a:ext cx="29181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The loss function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5"/>
          <p:cNvSpPr/>
          <p:nvPr/>
        </p:nvSpPr>
        <p:spPr>
          <a:xfrm>
            <a:off x="868680" y="1325880"/>
            <a:ext cx="5394600" cy="21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L1 keeps individual pixels close to the reference image.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D-SSIM preserves local structure, edges, and contrast.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The mix, L = 0.8L</a:t>
            </a:r>
            <a:r>
              <a:rPr lang="en-US" sz="2600" b="1" u="none" strike="noStrike" baseline="-8000">
                <a:solidFill>
                  <a:srgbClr val="182739"/>
                </a:solidFill>
                <a:effectLst/>
                <a:uFillTx/>
                <a:latin typeface="Arial"/>
              </a:rPr>
              <a:t>1</a:t>
            </a: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 + 0.2L</a:t>
            </a:r>
            <a:r>
              <a:rPr lang="en-US" sz="2100" b="1" u="none" strike="noStrike" baseline="-8000">
                <a:solidFill>
                  <a:srgbClr val="182739"/>
                </a:solidFill>
                <a:effectLst/>
                <a:uFillTx/>
                <a:latin typeface="Arial"/>
              </a:rPr>
              <a:t>D-SSIM</a:t>
            </a: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, balances fine detail with stable geometry.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ounded Rectangle 6"/>
          <p:cNvSpPr/>
          <p:nvPr/>
        </p:nvSpPr>
        <p:spPr>
          <a:xfrm>
            <a:off x="6583680" y="1645920"/>
            <a:ext cx="4480200" cy="182844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7"/>
          <p:cNvSpPr/>
          <p:nvPr/>
        </p:nvSpPr>
        <p:spPr>
          <a:xfrm>
            <a:off x="7338960" y="2148840"/>
            <a:ext cx="287784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F7B72"/>
                </a:solidFill>
                <a:effectLst/>
                <a:uFillTx/>
                <a:latin typeface="Arial"/>
              </a:rPr>
              <a:t>L = 0.8L</a:t>
            </a:r>
            <a:r>
              <a:rPr lang="en-US" sz="2800" b="1" u="none" strike="noStrike" baseline="-8000">
                <a:solidFill>
                  <a:srgbClr val="1F7B72"/>
                </a:solidFill>
                <a:effectLst/>
                <a:uFillTx/>
                <a:latin typeface="Arial"/>
              </a:rPr>
              <a:t>1</a:t>
            </a:r>
            <a:r>
              <a:rPr lang="en-US" sz="2200" b="1" u="none" strike="noStrike">
                <a:solidFill>
                  <a:srgbClr val="1F7B72"/>
                </a:solidFill>
                <a:effectLst/>
                <a:uFillTx/>
                <a:latin typeface="Arial"/>
              </a:rPr>
              <a:t> + 0.2L</a:t>
            </a:r>
            <a:r>
              <a:rPr lang="en-US" sz="2600" b="1" u="none" strike="noStrike" baseline="-8000">
                <a:solidFill>
                  <a:srgbClr val="1F7B72"/>
                </a:solidFill>
                <a:effectLst/>
                <a:uFillTx/>
                <a:latin typeface="Arial"/>
              </a:rPr>
              <a:t>D-SSIM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8"/>
          <p:cNvSpPr/>
          <p:nvPr/>
        </p:nvSpPr>
        <p:spPr>
          <a:xfrm>
            <a:off x="563040" y="4114800"/>
            <a:ext cx="65235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A simple mix, but good enough to keep both texture and geometry under control.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2"/>
          <p:cNvSpPr/>
          <p:nvPr/>
        </p:nvSpPr>
        <p:spPr>
          <a:xfrm>
            <a:off x="502920" y="201240"/>
            <a:ext cx="33228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Densification: clone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Rounded Rectangle 5"/>
          <p:cNvSpPr/>
          <p:nvPr/>
        </p:nvSpPr>
        <p:spPr>
          <a:xfrm>
            <a:off x="868680" y="1371600"/>
            <a:ext cx="5394600" cy="329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ounded Rectangle 6"/>
          <p:cNvSpPr/>
          <p:nvPr/>
        </p:nvSpPr>
        <p:spPr>
          <a:xfrm>
            <a:off x="1371960" y="2514600"/>
            <a:ext cx="914040" cy="914040"/>
          </a:xfrm>
          <a:prstGeom prst="roundRect">
            <a:avLst>
              <a:gd name="adj" fmla="val 16667"/>
            </a:avLst>
          </a:prstGeom>
          <a:solidFill>
            <a:srgbClr val="D1ECE8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7"/>
          <p:cNvSpPr/>
          <p:nvPr/>
        </p:nvSpPr>
        <p:spPr>
          <a:xfrm>
            <a:off x="4115160" y="1600560"/>
            <a:ext cx="914040" cy="914040"/>
          </a:xfrm>
          <a:prstGeom prst="roundRect">
            <a:avLst>
              <a:gd name="adj" fmla="val 16667"/>
            </a:avLst>
          </a:prstGeom>
          <a:solidFill>
            <a:srgbClr val="D1ECE8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9"/>
          <p:cNvSpPr/>
          <p:nvPr/>
        </p:nvSpPr>
        <p:spPr>
          <a:xfrm>
            <a:off x="228600" y="5029200"/>
            <a:ext cx="803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Small Gaussians in under-reconstructed areas are duplicated and nudged along the gradient.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0"/>
          <p:cNvSpPr/>
          <p:nvPr/>
        </p:nvSpPr>
        <p:spPr>
          <a:xfrm>
            <a:off x="6537960" y="1645920"/>
            <a:ext cx="4754520" cy="13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This helps fill missing geometry and adds detail where the model still struggles.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It is especially useful for thin structures and weak initial coverage.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1"/>
          <p:cNvSpPr/>
          <p:nvPr/>
        </p:nvSpPr>
        <p:spPr>
          <a:xfrm>
            <a:off x="4114800" y="3200760"/>
            <a:ext cx="914040" cy="914040"/>
          </a:xfrm>
          <a:prstGeom prst="roundRect">
            <a:avLst>
              <a:gd name="adj" fmla="val 16667"/>
            </a:avLst>
          </a:prstGeom>
          <a:solidFill>
            <a:srgbClr val="D1ECE8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 flipV="1">
            <a:off x="2286000" y="2057400"/>
            <a:ext cx="1828800" cy="914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2286000" y="2971800"/>
            <a:ext cx="1828800" cy="685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2"/>
          <p:cNvSpPr/>
          <p:nvPr/>
        </p:nvSpPr>
        <p:spPr>
          <a:xfrm>
            <a:off x="502920" y="201240"/>
            <a:ext cx="48294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Densification: split and prune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5"/>
          <p:cNvSpPr/>
          <p:nvPr/>
        </p:nvSpPr>
        <p:spPr>
          <a:xfrm>
            <a:off x="868680" y="1325880"/>
            <a:ext cx="5577480" cy="26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Large splats in crowded or uncertain regions are split into smaller ones, so one primitive does not cover too much at once.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Transparent Gaussians are removed during pruning, which keeps the model compact and avoids wasted computation.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Splitting and pruning work together to keep detail high without letting the representation bloat.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6"/>
          <p:cNvSpPr/>
          <p:nvPr/>
        </p:nvSpPr>
        <p:spPr>
          <a:xfrm>
            <a:off x="6862320" y="2743200"/>
            <a:ext cx="4388760" cy="91440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7"/>
          <p:cNvSpPr/>
          <p:nvPr/>
        </p:nvSpPr>
        <p:spPr>
          <a:xfrm>
            <a:off x="6858000" y="2971800"/>
            <a:ext cx="4397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Split when one primitive covers too much.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756000" y="4225680"/>
            <a:ext cx="54162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F7B72"/>
                </a:solidFill>
                <a:effectLst/>
                <a:uFillTx/>
                <a:latin typeface="Arial"/>
              </a:rPr>
              <a:t>Prune when a Gaussian contributes almost nothing.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2"/>
          <p:cNvSpPr/>
          <p:nvPr/>
        </p:nvSpPr>
        <p:spPr>
          <a:xfrm>
            <a:off x="502920" y="201240"/>
            <a:ext cx="29192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Fast rasterization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ounded Rectangle 5"/>
          <p:cNvSpPr/>
          <p:nvPr/>
        </p:nvSpPr>
        <p:spPr>
          <a:xfrm>
            <a:off x="868680" y="1920240"/>
            <a:ext cx="1554120" cy="82260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Tiles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ounded Rectangle 6"/>
          <p:cNvSpPr/>
          <p:nvPr/>
        </p:nvSpPr>
        <p:spPr>
          <a:xfrm>
            <a:off x="2971800" y="1920240"/>
            <a:ext cx="1554120" cy="82260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Cull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7"/>
          <p:cNvSpPr/>
          <p:nvPr/>
        </p:nvSpPr>
        <p:spPr>
          <a:xfrm>
            <a:off x="5029200" y="1920240"/>
            <a:ext cx="1554120" cy="82260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Sort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8"/>
          <p:cNvSpPr/>
          <p:nvPr/>
        </p:nvSpPr>
        <p:spPr>
          <a:xfrm>
            <a:off x="7132680" y="1920600"/>
            <a:ext cx="1554120" cy="82260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Draw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ounded Rectangle 9"/>
          <p:cNvSpPr/>
          <p:nvPr/>
        </p:nvSpPr>
        <p:spPr>
          <a:xfrm>
            <a:off x="9190080" y="1920600"/>
            <a:ext cx="1554120" cy="82260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Stop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4"/>
          <p:cNvSpPr/>
          <p:nvPr/>
        </p:nvSpPr>
        <p:spPr>
          <a:xfrm>
            <a:off x="1143000" y="4114800"/>
            <a:ext cx="10972440" cy="143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The screen is divided into 16×16 tiles, which limits the work to the pixels that matter.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Gaussians are culled against the frustum and each tile, then a single GPU radix sort prepares the depth order.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That organization makes the renderer fast enough for dense scenes without per-pixel sorting.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ight Arrow 15"/>
          <p:cNvSpPr/>
          <p:nvPr/>
        </p:nvSpPr>
        <p:spPr>
          <a:xfrm>
            <a:off x="2514600" y="2259000"/>
            <a:ext cx="41112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Right Arrow 16"/>
          <p:cNvSpPr/>
          <p:nvPr/>
        </p:nvSpPr>
        <p:spPr>
          <a:xfrm>
            <a:off x="4618080" y="2259000"/>
            <a:ext cx="41112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Right Arrow 17"/>
          <p:cNvSpPr/>
          <p:nvPr/>
        </p:nvSpPr>
        <p:spPr>
          <a:xfrm>
            <a:off x="6675480" y="2259000"/>
            <a:ext cx="41112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Right Arrow 18"/>
          <p:cNvSpPr/>
          <p:nvPr/>
        </p:nvSpPr>
        <p:spPr>
          <a:xfrm>
            <a:off x="8732880" y="2259000"/>
            <a:ext cx="41112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2"/>
          <p:cNvSpPr/>
          <p:nvPr/>
        </p:nvSpPr>
        <p:spPr>
          <a:xfrm>
            <a:off x="502920" y="201240"/>
            <a:ext cx="3781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Front-to-back blending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5"/>
          <p:cNvSpPr/>
          <p:nvPr/>
        </p:nvSpPr>
        <p:spPr>
          <a:xfrm>
            <a:off x="914760" y="1828800"/>
            <a:ext cx="5486040" cy="23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Each tile accumulates splats in depth order using standard alpha blending.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Once a pixel is nearly saturated, the renderer can stop early instead of processing every remaining splat.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That is a big part of the real-time gain, especially in busy scenes with many overlapping Gaussians.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6"/>
          <p:cNvSpPr/>
          <p:nvPr/>
        </p:nvSpPr>
        <p:spPr>
          <a:xfrm>
            <a:off x="7086600" y="2514600"/>
            <a:ext cx="2102760" cy="502560"/>
          </a:xfrm>
          <a:prstGeom prst="rect">
            <a:avLst/>
          </a:prstGeom>
          <a:solidFill>
            <a:srgbClr val="D1ECE8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Splat 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ectangle 7"/>
          <p:cNvSpPr/>
          <p:nvPr/>
        </p:nvSpPr>
        <p:spPr>
          <a:xfrm>
            <a:off x="7635240" y="2770560"/>
            <a:ext cx="2102760" cy="502560"/>
          </a:xfrm>
          <a:prstGeom prst="rect">
            <a:avLst/>
          </a:prstGeom>
          <a:solidFill>
            <a:srgbClr val="D1ECE8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Splat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8"/>
          <p:cNvSpPr/>
          <p:nvPr/>
        </p:nvSpPr>
        <p:spPr>
          <a:xfrm>
            <a:off x="8183880" y="3026520"/>
            <a:ext cx="2102760" cy="502560"/>
          </a:xfrm>
          <a:prstGeom prst="rect">
            <a:avLst/>
          </a:prstGeom>
          <a:solidFill>
            <a:srgbClr val="D1ECE8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Splat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9"/>
          <p:cNvSpPr/>
          <p:nvPr/>
        </p:nvSpPr>
        <p:spPr>
          <a:xfrm>
            <a:off x="8732520" y="3282840"/>
            <a:ext cx="2102760" cy="502560"/>
          </a:xfrm>
          <a:prstGeom prst="rect">
            <a:avLst/>
          </a:prstGeom>
          <a:solidFill>
            <a:srgbClr val="F4F8F7"/>
          </a:solidFill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Splat 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2"/>
          <p:cNvSpPr/>
          <p:nvPr/>
        </p:nvSpPr>
        <p:spPr>
          <a:xfrm>
            <a:off x="502920" y="201240"/>
            <a:ext cx="25887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Backward pass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5"/>
          <p:cNvSpPr/>
          <p:nvPr/>
        </p:nvSpPr>
        <p:spPr>
          <a:xfrm>
            <a:off x="457200" y="2018160"/>
            <a:ext cx="5668920" cy="23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The same sorted tile lists are reused during gradient computation, so the backward pass does not need a huge per-pixel buffer.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This keeps memory overhead low and avoids storing every blended primitive explicitly.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As a result, the renderer stays practical in both directions: forward synthesis and optimization.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ounded Rectangle 6"/>
          <p:cNvSpPr/>
          <p:nvPr/>
        </p:nvSpPr>
        <p:spPr>
          <a:xfrm>
            <a:off x="6629400" y="1417320"/>
            <a:ext cx="4388760" cy="2834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7"/>
          <p:cNvSpPr/>
          <p:nvPr/>
        </p:nvSpPr>
        <p:spPr>
          <a:xfrm>
            <a:off x="6903720" y="1691640"/>
            <a:ext cx="181368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F7B72"/>
                </a:solidFill>
                <a:effectLst/>
                <a:uFillTx/>
                <a:latin typeface="Arial"/>
              </a:rPr>
              <a:t>Why this matters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6748560" y="2286000"/>
            <a:ext cx="3995640" cy="1371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The renderer can stay fast in both directions: forward synthesis and gradient computation.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2"/>
          <p:cNvSpPr/>
          <p:nvPr/>
        </p:nvSpPr>
        <p:spPr>
          <a:xfrm>
            <a:off x="502920" y="201240"/>
            <a:ext cx="36903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What the results show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Rectangle 5"/>
          <p:cNvSpPr/>
          <p:nvPr/>
        </p:nvSpPr>
        <p:spPr>
          <a:xfrm>
            <a:off x="6172200" y="1143000"/>
            <a:ext cx="5257800" cy="4388760"/>
          </a:xfrm>
          <a:prstGeom prst="rect">
            <a:avLst/>
          </a:prstGeom>
          <a:noFill/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49" name="Picture 6" descr="1000000100000258000001CBEEFA67AF.png"/>
          <p:cNvPicPr/>
          <p:nvPr/>
        </p:nvPicPr>
        <p:blipFill>
          <a:blip r:embed="rId1"/>
          <a:stretch/>
        </p:blipFill>
        <p:spPr>
          <a:xfrm>
            <a:off x="6400800" y="1466280"/>
            <a:ext cx="4891680" cy="374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Box 7"/>
          <p:cNvSpPr/>
          <p:nvPr/>
        </p:nvSpPr>
        <p:spPr>
          <a:xfrm>
            <a:off x="457200" y="1828800"/>
            <a:ext cx="5440320" cy="23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The paper reports quality that matches or exceeds strong NeRF baselines on standard datasets.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It also reaches real-time frame rates, with examples around 135 fps and 93 fps depending on the training budget.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Training stays competitive as well, with examples of 6 min and 51 min runs in the paper.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2"/>
          <p:cNvSpPr/>
          <p:nvPr/>
        </p:nvSpPr>
        <p:spPr>
          <a:xfrm>
            <a:off x="502920" y="201240"/>
            <a:ext cx="39664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Why it is fast in practice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5"/>
          <p:cNvSpPr/>
          <p:nvPr/>
        </p:nvSpPr>
        <p:spPr>
          <a:xfrm>
            <a:off x="685800" y="1789560"/>
            <a:ext cx="5577480" cy="23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There is no neural network to </a:t>
            </a: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evaluate at render time, so </a:t>
            </a: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the renderer avoids a major </a:t>
            </a: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bottleneck from NeRF-style </a:t>
            </a: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methods.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Most work is concentrated on </a:t>
            </a: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visible tiles instead of empty </a:t>
            </a: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Speed comes from three </a:t>
            </a: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choices: explicit splats, tile-</a:t>
            </a: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based culling, and GPU-</a:t>
            </a: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friendly sorting.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Rounded Rectangle 6"/>
          <p:cNvSpPr/>
          <p:nvPr/>
        </p:nvSpPr>
        <p:spPr>
          <a:xfrm>
            <a:off x="6720840" y="1508760"/>
            <a:ext cx="4297320" cy="265140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6968520" y="2286000"/>
            <a:ext cx="377568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Speed comes from three choices: explicit splats, tile-based culling, and GPU-friendly sorting.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2"/>
          <p:cNvSpPr/>
          <p:nvPr/>
        </p:nvSpPr>
        <p:spPr>
          <a:xfrm>
            <a:off x="502920" y="201240"/>
            <a:ext cx="429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Strengths of the approach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ounded Rectangle 5"/>
          <p:cNvSpPr/>
          <p:nvPr/>
        </p:nvSpPr>
        <p:spPr>
          <a:xfrm>
            <a:off x="914400" y="1417320"/>
            <a:ext cx="4571640" cy="86832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High visual quality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ounded Rectangle 6"/>
          <p:cNvSpPr/>
          <p:nvPr/>
        </p:nvSpPr>
        <p:spPr>
          <a:xfrm>
            <a:off x="6355080" y="1417320"/>
            <a:ext cx="4571640" cy="86832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Real-time rendering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ounded Rectangle 7"/>
          <p:cNvSpPr/>
          <p:nvPr/>
        </p:nvSpPr>
        <p:spPr>
          <a:xfrm>
            <a:off x="914400" y="2743200"/>
            <a:ext cx="4571640" cy="86832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Flexible geometry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Rounded Rectangle 8"/>
          <p:cNvSpPr/>
          <p:nvPr/>
        </p:nvSpPr>
        <p:spPr>
          <a:xfrm>
            <a:off x="6355080" y="2743200"/>
            <a:ext cx="4571640" cy="86832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1F7B7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GPU-friendly design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9"/>
          <p:cNvSpPr/>
          <p:nvPr/>
        </p:nvSpPr>
        <p:spPr>
          <a:xfrm>
            <a:off x="1325160" y="4343400"/>
            <a:ext cx="941940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It is a rare combination: the scene is still expressive, but the renderer is no longer the bottleneck.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2"/>
          <p:cNvSpPr/>
          <p:nvPr/>
        </p:nvSpPr>
        <p:spPr>
          <a:xfrm>
            <a:off x="502920" y="201240"/>
            <a:ext cx="36900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What it does not solve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4"/>
          <p:cNvSpPr/>
          <p:nvPr/>
        </p:nvSpPr>
        <p:spPr>
          <a:xfrm>
            <a:off x="502920" y="731520"/>
            <a:ext cx="11063880" cy="27000"/>
          </a:xfrm>
          <a:prstGeom prst="rect">
            <a:avLst/>
          </a:prstGeom>
          <a:solidFill>
            <a:srgbClr val="DDE4E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5"/>
          <p:cNvSpPr/>
          <p:nvPr/>
        </p:nvSpPr>
        <p:spPr>
          <a:xfrm>
            <a:off x="686160" y="1828800"/>
            <a:ext cx="5486040" cy="23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The method is designed for static scenes, so it is not a full solution for dynamic content.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Poor captures still produce poor reconstructions, and very complex lighting or transparency can remain difficult.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So the speed problem is largely solved, but the capture problem is not magically gone.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ounded Rectangle 6"/>
          <p:cNvSpPr/>
          <p:nvPr/>
        </p:nvSpPr>
        <p:spPr>
          <a:xfrm>
            <a:off x="6538320" y="1417320"/>
            <a:ext cx="5120280" cy="3154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Box 7"/>
          <p:cNvSpPr/>
          <p:nvPr/>
        </p:nvSpPr>
        <p:spPr>
          <a:xfrm>
            <a:off x="6949440" y="1691640"/>
            <a:ext cx="129528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F7B72"/>
                </a:solidFill>
                <a:effectLst/>
                <a:uFillTx/>
                <a:latin typeface="Arial"/>
              </a:rPr>
              <a:t>Bottom line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6858000" y="2514600"/>
            <a:ext cx="4513680" cy="1371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The method fixes the speed problem very well, but it does not remove every capture and scene-complexity limitation.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7B7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Box 2"/>
          <p:cNvSpPr/>
          <p:nvPr/>
        </p:nvSpPr>
        <p:spPr>
          <a:xfrm>
            <a:off x="685800" y="502920"/>
            <a:ext cx="1244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7B72"/>
                </a:solidFill>
                <a:effectLst/>
                <a:uFillTx/>
                <a:latin typeface="Arial"/>
              </a:rPr>
              <a:t>Takeaway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3"/>
          <p:cNvSpPr/>
          <p:nvPr/>
        </p:nvSpPr>
        <p:spPr>
          <a:xfrm>
            <a:off x="685800" y="1051560"/>
            <a:ext cx="4224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3D Gaussian Splatting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4"/>
          <p:cNvSpPr/>
          <p:nvPr/>
        </p:nvSpPr>
        <p:spPr>
          <a:xfrm>
            <a:off x="685800" y="1600200"/>
            <a:ext cx="64972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7B72"/>
                </a:solidFill>
                <a:effectLst/>
                <a:uFillTx/>
                <a:latin typeface="Arial"/>
              </a:rPr>
              <a:t>bridges the gap between quality and speed.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ounded Rectangle 5"/>
          <p:cNvSpPr/>
          <p:nvPr/>
        </p:nvSpPr>
        <p:spPr>
          <a:xfrm>
            <a:off x="731520" y="2286000"/>
            <a:ext cx="10789560" cy="1554120"/>
          </a:xfrm>
          <a:prstGeom prst="roundRect">
            <a:avLst>
              <a:gd name="adj" fmla="val 16667"/>
            </a:avLst>
          </a:prstGeom>
          <a:solidFill>
            <a:srgbClr val="F4F8F7"/>
          </a:solidFill>
          <a:ln w="9360">
            <a:solidFill>
              <a:srgbClr val="DDE4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6"/>
          <p:cNvSpPr/>
          <p:nvPr/>
        </p:nvSpPr>
        <p:spPr>
          <a:xfrm>
            <a:off x="1005840" y="2697480"/>
            <a:ext cx="100580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It keeps the radiance-field idea, but makes the scene explicit enough to optimize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82739"/>
                </a:solidFill>
                <a:effectLst/>
                <a:uFillTx/>
                <a:latin typeface="Arial"/>
              </a:rPr>
              <a:t>and render in real 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7"/>
          <p:cNvSpPr/>
          <p:nvPr/>
        </p:nvSpPr>
        <p:spPr>
          <a:xfrm>
            <a:off x="685800" y="4114800"/>
            <a:ext cx="4884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7B72"/>
                </a:solidFill>
                <a:effectLst/>
                <a:uFillTx/>
                <a:latin typeface="Arial"/>
              </a:rPr>
              <a:t>Sources here, any questions?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1"/>
          <p:cNvSpPr/>
          <p:nvPr/>
        </p:nvSpPr>
        <p:spPr>
          <a:xfrm>
            <a:off x="686160" y="4572360"/>
            <a:ext cx="7088040" cy="229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[1] Kerbl, B., Kopanas, G., Leimkühler, T., Drettakis, G. “3D Gaussian Splatting for Real-Time Radiance Field Rendering”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sng" strike="noStrike">
                <a:solidFill>
                  <a:srgbClr val="000080"/>
                </a:solidFill>
                <a:effectLst/>
                <a:uFillTx/>
                <a:latin typeface="Arial"/>
                <a:hlinkClick r:id="rId1"/>
              </a:rPr>
              <a:t>https://cseweb.ucsd.edu/~viscomp/classes/cse274/wi26/papers/3d_gaussian_splatting_low.pdf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[2] Mildenhall, B. et al. (2020) “NeRF: Representing Scenes as Neural Radiance Fields for View Synthesis”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sng" strike="noStrike">
                <a:solidFill>
                  <a:srgbClr val="000080"/>
                </a:solidFill>
                <a:effectLst/>
                <a:uFillTx/>
                <a:latin typeface="Arial"/>
                <a:hlinkClick r:id="rId2"/>
              </a:rPr>
              <a:t>https://arxiv.org/pdf/2003.08934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[3] Zwicker, M. et al. (2001) “EWA Volume Splatting”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sng" strike="noStrike">
                <a:solidFill>
                  <a:srgbClr val="000080"/>
                </a:solidFill>
                <a:effectLst/>
                <a:uFillTx/>
                <a:latin typeface="Arial"/>
                <a:hlinkClick r:id="rId3"/>
              </a:rPr>
              <a:t>https://www.cs.umd.edu/~zwicker/publications/EWAVolumeSplatting-VIS01.pdf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[4] Fridovich-Keil, S., Yu, A. et al. (2022) “Plenoxels”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sng" strike="noStrike">
                <a:solidFill>
                  <a:srgbClr val="000080"/>
                </a:solidFill>
                <a:effectLst/>
                <a:uFillTx/>
                <a:latin typeface="Arial"/>
                <a:hlinkClick r:id="rId4"/>
              </a:rPr>
              <a:t>https://arxiv.org/pdf/2112.05131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[5] Noah Snavely, Steven M. Seitz and Richard Szeliski “Photo Tourism: Exploring Photo Collections in 3D”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sng" strike="noStrike">
                <a:solidFill>
                  <a:srgbClr val="000080"/>
                </a:solidFill>
                <a:effectLst/>
                <a:uFillTx/>
                <a:latin typeface="Arial"/>
                <a:hlinkClick r:id="rId5"/>
              </a:rPr>
              <a:t>https://dl.acm.org/doi/epdf/10.1145/1141911.1141964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[6] Gaussian splatting principles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sng" strike="noStrike">
                <a:solidFill>
                  <a:srgbClr val="000080"/>
                </a:solidFill>
                <a:effectLst/>
                <a:uFillTx/>
                <a:latin typeface="Arial"/>
                <a:hlinkClick r:id="rId6"/>
              </a:rPr>
              <a:t>https://blog.csdn.net/qq_28087491/article/details/135629371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[7] Gaussian splatting showcase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sng" strike="noStrike">
                <a:solidFill>
                  <a:srgbClr val="000080"/>
                </a:solidFill>
                <a:effectLst/>
                <a:uFillTx/>
                <a:latin typeface="Arial"/>
                <a:hlinkClick r:id="rId7"/>
              </a:rPr>
              <a:t>https://velog.io/@cjkangme/3D-Gaussian-Splattingfor-Real-Time-Radiance-Field-Rendering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[8] Peer review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sng" strike="noStrike">
                <a:solidFill>
                  <a:srgbClr val="000080"/>
                </a:solidFill>
                <a:effectLst/>
                <a:uFillTx/>
                <a:latin typeface="Arial"/>
                <a:hlinkClick r:id="rId8"/>
              </a:rPr>
              <a:t>https://medium.com/@AriaLeeNotAriel/numbynum-3d-gaussian-splatting-for-real-time-radiance-field-rendering-kerbl-et-al-60c0b25e5544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9601200" y="6400800"/>
            <a:ext cx="2124720" cy="6022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 REDACTED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2026-06-22T07:01:48Z</dcterms:modified>
  <cp:revision>27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